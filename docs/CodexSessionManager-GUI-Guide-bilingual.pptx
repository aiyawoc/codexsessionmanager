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834c3ca382431e" /><Relationship Type="http://schemas.openxmlformats.org/officeDocument/2006/relationships/extended-properties" Target="/docProps/app.xml" Id="Re108bd49678a409e" /><Relationship Type="http://schemas.openxmlformats.org/officeDocument/2006/relationships/officeDocument" Target="/ppt/presentation.xml" Id="Rf248f5154dd44f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787d03b0a84681"/>
  </p:sldMasterIdLst>
  <p:notesMasterIdLst>
    <p:notesMasterId xmlns:r="http://schemas.openxmlformats.org/officeDocument/2006/relationships" r:id="R02b4bf24aec04f02"/>
  </p:notesMasterIdLst>
  <p:sldIdLst>
    <p:sldId xmlns:r="http://schemas.openxmlformats.org/officeDocument/2006/relationships" id="256" r:id="R6e88fd5bacac4b2a"/>
    <p:sldId xmlns:r="http://schemas.openxmlformats.org/officeDocument/2006/relationships" id="257" r:id="R76d3f78103df4a6a"/>
    <p:sldId xmlns:r="http://schemas.openxmlformats.org/officeDocument/2006/relationships" id="258" r:id="R229882d1d1b54ba4"/>
    <p:sldId xmlns:r="http://schemas.openxmlformats.org/officeDocument/2006/relationships" id="259" r:id="R164887cd3e2145b7"/>
    <p:sldId xmlns:r="http://schemas.openxmlformats.org/officeDocument/2006/relationships" id="260" r:id="R10fbca1f72ec4fb8"/>
    <p:sldId xmlns:r="http://schemas.openxmlformats.org/officeDocument/2006/relationships" id="261" r:id="R8d2adff1f00e4df8"/>
    <p:sldId xmlns:r="http://schemas.openxmlformats.org/officeDocument/2006/relationships" id="262" r:id="R17443b04335a433e"/>
    <p:sldId xmlns:r="http://schemas.openxmlformats.org/officeDocument/2006/relationships" id="263" r:id="R8a6814ea502a4949"/>
    <p:sldId xmlns:r="http://schemas.openxmlformats.org/officeDocument/2006/relationships" id="264" r:id="R2e0cffec32114b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9be1d715c546de" /><Relationship Type="http://schemas.openxmlformats.org/officeDocument/2006/relationships/slideMaster" Target="/ppt/slideMasters/slideMaster1.xml" Id="Rbd787d03b0a84681" /><Relationship Type="http://schemas.openxmlformats.org/officeDocument/2006/relationships/notesMaster" Target="/ppt/notesMasters/notesMaster1.xml" Id="R02b4bf24aec04f02" /><Relationship Type="http://schemas.openxmlformats.org/officeDocument/2006/relationships/presProps" Target="/ppt/presProps.xml" Id="R797cea410c544c75" /><Relationship Type="http://schemas.openxmlformats.org/officeDocument/2006/relationships/tableStyles" Target="/ppt/tableStyles.xml" Id="R8fff49c2fc0f4f3c" /><Relationship Type="http://schemas.openxmlformats.org/officeDocument/2006/relationships/slide" Target="/ppt/slides/slide1.xml" Id="R6e88fd5bacac4b2a" /><Relationship Type="http://schemas.openxmlformats.org/officeDocument/2006/relationships/slide" Target="/ppt/slides/slide2.xml" Id="R76d3f78103df4a6a" /><Relationship Type="http://schemas.openxmlformats.org/officeDocument/2006/relationships/slide" Target="/ppt/slides/slide3.xml" Id="R229882d1d1b54ba4" /><Relationship Type="http://schemas.openxmlformats.org/officeDocument/2006/relationships/slide" Target="/ppt/slides/slide4.xml" Id="R164887cd3e2145b7" /><Relationship Type="http://schemas.openxmlformats.org/officeDocument/2006/relationships/slide" Target="/ppt/slides/slide5.xml" Id="R10fbca1f72ec4fb8" /><Relationship Type="http://schemas.openxmlformats.org/officeDocument/2006/relationships/slide" Target="/ppt/slides/slide6.xml" Id="R8d2adff1f00e4df8" /><Relationship Type="http://schemas.openxmlformats.org/officeDocument/2006/relationships/slide" Target="/ppt/slides/slide7.xml" Id="R17443b04335a433e" /><Relationship Type="http://schemas.openxmlformats.org/officeDocument/2006/relationships/slide" Target="/ppt/slides/slide8.xml" Id="R8a6814ea502a4949" /><Relationship Type="http://schemas.openxmlformats.org/officeDocument/2006/relationships/slide" Target="/ppt/slides/slide9.xml" Id="R2e0cffec32114b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8dac63e3c042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ae9ac884bc41ea" /><Relationship Type="http://schemas.openxmlformats.org/officeDocument/2006/relationships/notesMaster" Target="/ppt/notesMasters/notesMaster1.xml" Id="R424425ce8cee44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32703ea4384a6f" /><Relationship Type="http://schemas.openxmlformats.org/officeDocument/2006/relationships/notesMaster" Target="/ppt/notesMasters/notesMaster1.xml" Id="Rb75e78567ac340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d0b62ad04a41e1" /><Relationship Type="http://schemas.openxmlformats.org/officeDocument/2006/relationships/notesMaster" Target="/ppt/notesMasters/notesMaster1.xml" Id="R5160891432fc4f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2e66d6a7744f5d" /><Relationship Type="http://schemas.openxmlformats.org/officeDocument/2006/relationships/notesMaster" Target="/ppt/notesMasters/notesMaster1.xml" Id="R6eb231da5b4c4b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6720b7aa3349c3" /><Relationship Type="http://schemas.openxmlformats.org/officeDocument/2006/relationships/notesMaster" Target="/ppt/notesMasters/notesMaster1.xml" Id="R67d2c1cb184c4f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57ba04d25e43a2" /><Relationship Type="http://schemas.openxmlformats.org/officeDocument/2006/relationships/notesMaster" Target="/ppt/notesMasters/notesMaster1.xml" Id="Rf6de524b29a944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08ff9b131f4fae" /><Relationship Type="http://schemas.openxmlformats.org/officeDocument/2006/relationships/notesMaster" Target="/ppt/notesMasters/notesMaster1.xml" Id="Rd010326512cc4f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d617ba95854dba" /><Relationship Type="http://schemas.openxmlformats.org/officeDocument/2006/relationships/notesMaster" Target="/ppt/notesMasters/notesMaster1.xml" Id="Rf80a0ab3e9ea42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6c3a10348c4caa" /><Relationship Type="http://schemas.openxmlformats.org/officeDocument/2006/relationships/notesMaster" Target="/ppt/notesMasters/notesMaster1.xml" Id="R133ca6a2110343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/Users/ethen/同步空间/CODE/AI/CodexSessionManager/README-cn.md</a:t>
            </a:r>
          </a:p>
          <a:p xmlns:a="http://schemas.openxmlformats.org/drawingml/2006/main">
            <a:r>
              <a:t>- /Users/ethen/同步空间/CODE/AI/CodexSessionManager/README.md</a:t>
            </a:r>
          </a:p>
          <a:p xmlns:a="http://schemas.openxmlformats.org/drawingml/2006/main">
            <a:r>
              <a:t>- /Users/ethen/同步空间/CODE/AI/CodexSessionManager/docs/images/gui-overview.png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/Users/ethen/同步空间/CODE/AI/CodexSessionManager/README-cn.md</a:t>
            </a:r>
          </a:p>
          <a:p xmlns:a="http://schemas.openxmlformats.org/drawingml/2006/main">
            <a:r>
              <a:t>- /Users/ethen/同步空间/CODE/AI/CodexSessionManager/README.md</a:t>
            </a:r>
          </a:p>
          <a:p xmlns:a="http://schemas.openxmlformats.org/drawingml/2006/main">
            <a:r>
              <a:t>- /Users/ethen/同步空间/CODE/AI/CodexSessionManager/docs/images/gui-overview.png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/Users/ethen/同步空间/CODE/AI/CodexSessionManager/README-cn.md</a:t>
            </a:r>
          </a:p>
          <a:p xmlns:a="http://schemas.openxmlformats.org/drawingml/2006/main">
            <a:r>
              <a:t>- /Users/ethen/同步空间/CODE/AI/CodexSessionManager/README.md</a:t>
            </a:r>
          </a:p>
          <a:p xmlns:a="http://schemas.openxmlformats.org/drawingml/2006/main">
            <a:r>
              <a:t>- /Users/ethen/同步空间/CODE/AI/CodexSessionManager/docs/images/gui-overview.png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/Users/ethen/同步空间/CODE/AI/CodexSessionManager/README-cn.md</a:t>
            </a:r>
          </a:p>
          <a:p xmlns:a="http://schemas.openxmlformats.org/drawingml/2006/main">
            <a:r>
              <a:t>- /Users/ethen/同步空间/CODE/AI/CodexSessionManager/README.md</a:t>
            </a:r>
          </a:p>
          <a:p xmlns:a="http://schemas.openxmlformats.org/drawingml/2006/main">
            <a:r>
              <a:t>- /Users/ethen/同步空间/CODE/AI/CodexSessionManager/docs/images/gui-overview.png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/Users/ethen/同步空间/CODE/AI/CodexSessionManager/README-cn.md</a:t>
            </a:r>
          </a:p>
          <a:p xmlns:a="http://schemas.openxmlformats.org/drawingml/2006/main">
            <a:r>
              <a:t>- /Users/ethen/同步空间/CODE/AI/CodexSessionManager/README.md</a:t>
            </a:r>
          </a:p>
          <a:p xmlns:a="http://schemas.openxmlformats.org/drawingml/2006/main">
            <a:r>
              <a:t>- /Users/ethen/同步空间/CODE/AI/CodexSessionManager/docs/images/gui-overview.png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/Users/ethen/同步空间/CODE/AI/CodexSessionManager/README-cn.md</a:t>
            </a:r>
          </a:p>
          <a:p xmlns:a="http://schemas.openxmlformats.org/drawingml/2006/main">
            <a:r>
              <a:t>- /Users/ethen/同步空间/CODE/AI/CodexSessionManager/README.md</a:t>
            </a:r>
          </a:p>
          <a:p xmlns:a="http://schemas.openxmlformats.org/drawingml/2006/main">
            <a:r>
              <a:t>- /Users/ethen/同步空间/CODE/AI/CodexSessionManager/docs/images/gui-overview.png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/Users/ethen/同步空间/CODE/AI/CodexSessionManager/README-cn.md</a:t>
            </a:r>
          </a:p>
          <a:p xmlns:a="http://schemas.openxmlformats.org/drawingml/2006/main">
            <a:r>
              <a:t>- /Users/ethen/同步空间/CODE/AI/CodexSessionManager/README.md</a:t>
            </a:r>
          </a:p>
          <a:p xmlns:a="http://schemas.openxmlformats.org/drawingml/2006/main">
            <a:r>
              <a:t>- /Users/ethen/同步空间/CODE/AI/CodexSessionManager/docs/images/gui-overview.png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/Users/ethen/同步空间/CODE/AI/CodexSessionManager/README-cn.md</a:t>
            </a:r>
          </a:p>
          <a:p xmlns:a="http://schemas.openxmlformats.org/drawingml/2006/main">
            <a:r>
              <a:t>- /Users/ethen/同步空间/CODE/AI/CodexSessionManager/README.md</a:t>
            </a:r>
          </a:p>
          <a:p xmlns:a="http://schemas.openxmlformats.org/drawingml/2006/main">
            <a:r>
              <a:t>- /Users/ethen/同步空间/CODE/AI/CodexSessionManager/docs/images/gui-overview.png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/Users/ethen/同步空间/CODE/AI/CodexSessionManager/README-cn.md</a:t>
            </a:r>
          </a:p>
          <a:p xmlns:a="http://schemas.openxmlformats.org/drawingml/2006/main">
            <a:r>
              <a:t>- /Users/ethen/同步空间/CODE/AI/CodexSessionManager/README.md</a:t>
            </a:r>
          </a:p>
          <a:p xmlns:a="http://schemas.openxmlformats.org/drawingml/2006/main">
            <a:r>
              <a:t>- /Users/ethen/同步空间/CODE/AI/CodexSessionManager/docs/images/gui-overview.png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1c865804c4c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5d6a625bd7470a" /><Relationship Type="http://schemas.openxmlformats.org/officeDocument/2006/relationships/slideLayout" Target="/ppt/slideLayouts/slideLayout1.xml" Id="R0d21976458e34e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21976458e34e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e4aa0fa8a4241" /><Relationship Type="http://schemas.openxmlformats.org/officeDocument/2006/relationships/image" Target="/ppt/media/image.png" Id="R62382e248cb2438f" /><Relationship Type="http://schemas.openxmlformats.org/officeDocument/2006/relationships/notesSlide" Target="/ppt/notesSlides/notesSlide1.xml" Id="R021eea6c64a74d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3fdc38ffa430d" /><Relationship Type="http://schemas.openxmlformats.org/officeDocument/2006/relationships/notesSlide" Target="/ppt/notesSlides/notesSlide2.xml" Id="Radfe7793108b4d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5e1044da546ca" /><Relationship Type="http://schemas.openxmlformats.org/officeDocument/2006/relationships/notesSlide" Target="/ppt/notesSlides/notesSlide3.xml" Id="R27f9d311f41944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3eaab42794347" /><Relationship Type="http://schemas.openxmlformats.org/officeDocument/2006/relationships/image" Target="/ppt/media/image2.png" Id="R806008ca2b454d6f" /><Relationship Type="http://schemas.openxmlformats.org/officeDocument/2006/relationships/notesSlide" Target="/ppt/notesSlides/notesSlide4.xml" Id="Re92a8cf5b5bc4f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dee1bca94496e" /><Relationship Type="http://schemas.openxmlformats.org/officeDocument/2006/relationships/notesSlide" Target="/ppt/notesSlides/notesSlide5.xml" Id="Rc7ca860be4194e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4651883974e79" /><Relationship Type="http://schemas.openxmlformats.org/officeDocument/2006/relationships/notesSlide" Target="/ppt/notesSlides/notesSlide6.xml" Id="R6b1cb8bfcabc44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8a406ccea4172" /><Relationship Type="http://schemas.openxmlformats.org/officeDocument/2006/relationships/notesSlide" Target="/ppt/notesSlides/notesSlide7.xml" Id="Rd7f867d4895e4d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4eac8c8bb46bf" /><Relationship Type="http://schemas.openxmlformats.org/officeDocument/2006/relationships/notesSlide" Target="/ppt/notesSlides/notesSlide8.xml" Id="R2c12e4c995de43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966d9b8554947" /><Relationship Type="http://schemas.openxmlformats.org/officeDocument/2006/relationships/notesSlide" Target="/ppt/notesSlides/notesSlide9.xml" Id="Rc0f19279d4e04f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1127F3E6-1311-4EE4-9B88-F672975C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rPr>
              <a:t>GUI OPERATION GUIDE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22E5A47-D5ED-4088-9920-4373D575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4000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CodexSession</a:t>
            </a:r>
          </a:p>
          <a:p xmlns:a="http://schemas.openxmlformats.org/drawingml/2006/main">
            <a:pPr algn="l">
              <a:defRPr sz="4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Manager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21166-36EF-4FD3-AAF0-406FA929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安全管理 Codex 对话与上下文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93CE0-05F4-4F91-A98A-EE0B44C4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Safe task and context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FAB1D-C46B-46C8-A924-718D8CA9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rPr>
              <a:t>双语操作说明 · Bilingual guide</a:t>
            </a:r>
          </a:p>
        </p:txBody>
      </p:sp>
      <p:sp>
        <p:nvSpPr>
          <p:cNvPr id="6" name="cover-screenshot-frame">
            <a:extLst xmlns:a="http://schemas.openxmlformats.org/drawingml/2006/main">
              <a:ext uri="{FF2B5EF4-FFF2-40B4-BE49-F238E27FC236}">
                <a16:creationId xmlns:a16="http://schemas.microsoft.com/office/drawing/2014/main" id="{A349ABBE-8DF5-4D23-A567-CC331E42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66800"/>
            <a:ext cx="6972300" cy="4152900"/>
          </a:xfrm>
          <a:prstGeom xmlns:a="http://schemas.openxmlformats.org/drawingml/2006/main" prst="roundRect">
            <a:avLst>
              <a:gd name="adj" fmla="val 2752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82e248cb2438f"/>
          <a:stretch xmlns:a="http://schemas.openxmlformats.org/drawingml/2006/main"/>
        </p:blipFill>
        <p:spPr>
          <a:xfrm xmlns:a="http://schemas.openxmlformats.org/drawingml/2006/main">
            <a:off x="4895850" y="1257300"/>
            <a:ext cx="6705600" cy="3771900"/>
          </a:xfrm>
          <a:prstGeom xmlns:a="http://schemas.openxmlformats.org/drawingml/2006/main" prst="roundRect">
            <a:avLst>
              <a:gd name="adj" fmla="val 196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F2DDD-B7C2-4113-8C95-E5DC4B08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C550C-398E-4221-8AA1-30A48128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4804A"/>
                </a:solidFill>
                <a:latin typeface="Helvetica Neue"/>
                <a:ea typeface="Helvetica Neue"/>
                <a:cs typeface="Helvetica Neue"/>
              </a:rPr>
              <a:t>原任务只读 · Source task remains read-only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7546F-6DBC-4CC8-9528-74FE125A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531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327439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CD2A4CE-7299-4F69-A712-5D202AE4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rPr>
              <a:t>01 · WHY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511878-F487-4B0C-A615-ED2684DE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对话越长，越要可审查 / Long work needs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50FA2-A3B8-4B84-A950-7FF59223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23F82-CDEE-406B-9D29-906FE424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4102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0C867-81B4-4C72-A45B-A23826F7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54102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9525">
            <a:solidFill>
              <a:srgbClr val="DCE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3D7E7-95DE-4C0C-9824-915E0F4B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问题 /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EB8E5-BAE9-4386-A945-00CF253B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46291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项目、对话与上下文会持续累积，查找、备份、清理和精简逐渐变得困难。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Projects, conversations, and context keep accumulating; review, backup, cleanup, and reduction become harder over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BF008-5B4D-43B9-9FAB-70003FAF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002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rPr>
              <a:t>安全原则 / Safety principle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D1595-4625-420F-9CEF-79433578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71750"/>
            <a:ext cx="46291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原任务只读；在线写入只走 App Server；裁剪只创建派生任务。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source task stays read-only; online writes use App Server; trimming creates a derived task only.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3877C8-00D3-4BD5-8D54-8D27446F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049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8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804A"/>
                </a:solidFill>
                <a:latin typeface="Helvetica Neue"/>
                <a:ea typeface="Helvetica Neue"/>
                <a:cs typeface="Helvetica Neue"/>
              </a:rPr>
              <a:t>先计划，再执行；先复核，再写入。 / Plan first. Re-check before writing.</a:t>
            </a:r>
          </a:p>
        </p:txBody>
      </p:sp>
      <p:sp>
        <p:nvSpPr>
          <p:cNvPr id="11" name="footer-2">
            <a:extLst xmlns:a="http://schemas.openxmlformats.org/drawingml/2006/main">
              <a:ext uri="{FF2B5EF4-FFF2-40B4-BE49-F238E27FC236}">
                <a16:creationId xmlns:a16="http://schemas.microsoft.com/office/drawing/2014/main" id="{5EC702F4-3380-429F-B843-5D39CB94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CodexSessionManager · GUI Guide / GUI 操作说明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37C3B-0EFA-4CE4-B82A-5341DECB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150401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36FF3EF-DE4F-4AF8-BF64-E888FC93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rPr>
              <a:t>02 · START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8CF7A9-2622-46EC-B24A-C3F4A90C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三步安装并启动 / Install and launch in three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2AB0D-4050-46B3-80FE-7D8A6567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C907A-0D6D-467A-A9FA-662EBFF4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F5BEA-A665-4B0F-B85E-79C07078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E0805-E3FB-4A4C-BE8C-995F9AE3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76E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A20D6-7AF4-4656-8F05-7173DB9C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构建 / Build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A092D-7115-4E6D-8053-36EBF0EF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scripts/build_macos_app.sh</a:t>
            </a:r>
          </a:p>
          <a:p xmlns:a="http://schemas.openxmlformats.org/drawingml/2006/main">
            <a:pPr algn="l">
              <a:defRPr sz="1425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已有 .app 可跳过此步</a:t>
            </a:r>
          </a:p>
          <a:p xmlns:a="http://schemas.openxmlformats.org/drawingml/2006/main">
            <a:pPr algn="l">
              <a:defRPr sz="1425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Skip when the .app already exists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506F5-C726-42ED-9E78-881AC0F1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431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EE09A9-4A3A-4852-91A8-7567AB7A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76E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F86FA-4517-429A-92DA-44E17096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安装 / Install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6D687-F252-4571-B5AB-D0189DDE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4810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scripts/install_user.sh</a:t>
            </a:r>
          </a:p>
          <a:p xmlns:a="http://schemas.openxmlformats.org/drawingml/2006/main">
            <a:pPr algn="l">
              <a:defRPr sz="1425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dist/CodexSessionManager.app</a:t>
            </a:r>
          </a:p>
          <a:p xmlns:a="http://schemas.openxmlformats.org/drawingml/2006/main">
            <a:pPr algn="l">
              <a:defRPr sz="1425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No administrator access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CD1B19-723E-425A-AEE4-4DF4D69C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E0439-424E-4F9A-815C-1777A633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76E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3DCA9-3790-4770-96A6-A18ED432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启动 / Launch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069749-D667-4C5C-B4E9-96FC1B86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4810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~/Applications/</a:t>
            </a:r>
          </a:p>
          <a:p xmlns:a="http://schemas.openxmlformats.org/drawingml/2006/main">
            <a:pPr algn="l">
              <a:defRPr sz="1425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CodexSessionManager.app</a:t>
            </a:r>
          </a:p>
          <a:p xmlns:a="http://schemas.openxmlformats.org/drawingml/2006/main">
            <a:pPr algn="l">
              <a:defRPr sz="1425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Open the standalone GUI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D41B28-87F5-4756-B944-A7BB1E4E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10287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9525">
            <a:solidFill>
              <a:srgbClr val="DCE9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BF2B8-0A2B-40A9-A450-32E26BCA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0"/>
            <a:ext cx="967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rPr>
              <a:t>隔离测试 / Isolated test:  scripts/install_test_app.sh</a:t>
            </a:r>
          </a:p>
        </p:txBody>
      </p:sp>
      <p:sp>
        <p:nvSpPr>
          <p:cNvPr id="19" name="footer-3">
            <a:extLst xmlns:a="http://schemas.openxmlformats.org/drawingml/2006/main">
              <a:ext uri="{FF2B5EF4-FFF2-40B4-BE49-F238E27FC236}">
                <a16:creationId xmlns:a16="http://schemas.microsoft.com/office/drawing/2014/main" id="{34893666-E6B9-4056-90FF-744F91E0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CodexSessionManager · GUI Guide / GUI 操作说明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A60B00-EA78-4264-A90A-9ADE635E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901794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3B1DE02-C252-416C-BF02-1A9E0F3A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rPr>
              <a:t>03 · ORIENT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8F6C12-2486-4C2A-8F91-73690F04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先认识四个工作区 / Four panes, one review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E4CD9-D1D5-48D0-9409-BBBAD4BA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verview-frame">
            <a:extLst xmlns:a="http://schemas.openxmlformats.org/drawingml/2006/main">
              <a:ext uri="{FF2B5EF4-FFF2-40B4-BE49-F238E27FC236}">
                <a16:creationId xmlns:a16="http://schemas.microsoft.com/office/drawing/2014/main" id="{9C2B14BC-2BF3-494C-9025-D05232BB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9391650" cy="48006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008ca2b454d6f"/>
          <a:stretch xmlns:a="http://schemas.openxmlformats.org/drawingml/2006/main"/>
        </p:blipFill>
        <p:spPr>
          <a:xfrm xmlns:a="http://schemas.openxmlformats.org/drawingml/2006/main">
            <a:off x="998008" y="1581150"/>
            <a:ext cx="8195733" cy="4610100"/>
          </a:xfrm>
          <a:prstGeom xmlns:a="http://schemas.openxmlformats.org/drawingml/2006/main" prst="roundRect">
            <a:avLst>
              <a:gd name="adj" fmla="val 124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B8FAE-B222-457B-96F9-1354B01C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4CE0F-0AD7-413D-B8D2-354F4F32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4310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项目与任务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Projects &amp; Tasks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05E6D-53A6-46DA-BF80-9D5475E7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86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B1274A-7F29-4305-A198-DFEF799C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0990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时间线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Timeline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6E7CB-E165-4C42-9B39-739F5C58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52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E290D-9C32-4181-8AB4-99DD296A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7670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上下文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90630-BF9A-42B5-B7FF-24B8A152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19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A1875-249B-471C-88B8-AD92ACF8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14350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裁剪动作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Trim action</a:t>
            </a:r>
          </a:p>
        </p:txBody>
      </p:sp>
      <p:sp>
        <p:nvSpPr>
          <p:cNvPr id="14" name="footer-4">
            <a:extLst xmlns:a="http://schemas.openxmlformats.org/drawingml/2006/main">
              <a:ext uri="{FF2B5EF4-FFF2-40B4-BE49-F238E27FC236}">
                <a16:creationId xmlns:a16="http://schemas.microsoft.com/office/drawing/2014/main" id="{841A8B1E-ED12-4971-892C-42CFBB48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CodexSessionManager · GUI Guide / GUI 操作说明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B7A117-E78C-41E6-AB89-60F3E69D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603659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224D1A6-8B8C-4DDB-839D-F3CBBF63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rPr>
              <a:t>04 · REVIEW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8627A5-599D-477B-A971-8AED1028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436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从项目到上下文，只需两次选择 / Two selections reveal the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707BD-380E-431F-B63F-EEE479FC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25519-AECA-4344-ADED-BC3A6932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DD8C0-1779-4776-BEBF-E564C78E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E74E5-3D11-48CE-A61F-BE19076F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定位对话 / 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C18DB-8580-443F-BC21-977C4DBD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33909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搜索项目或对话名称；也可粘贴完整对话 ID。</a:t>
            </a:r>
          </a:p>
          <a:p xmlns:a="http://schemas.openxmlformats.org/drawingml/2006/main">
            <a:pPr algn="l">
              <a:def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Search by project/name, or paste a full conversation ID.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95EA9-78FF-4B10-B5A8-21366DB0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EAB43-C4E1-4B89-9143-B6BAE737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0030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E27AB-8B0E-42A2-ACEE-B0D36700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选择事件 / Select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B27A39-BB23-4E60-9254-AB11E432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71850"/>
            <a:ext cx="33909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先选对话，再选 turn 或 item；Turn 1–N 按返回顺序显示。</a:t>
            </a:r>
          </a:p>
          <a:p xmlns:a="http://schemas.openxmlformats.org/drawingml/2006/main">
            <a:pPr algn="l">
              <a:def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Choose a conversation, then a turn or item.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E1679-60F7-4CD7-AA1E-45385863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907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C3D30-1259-43A8-B627-7454A577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FB3F7C-C2AC-4711-9F08-285DC934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检查上下文 / Inspect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C75EDC-E2CF-4F35-BFE0-B297CD92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71850"/>
            <a:ext cx="33909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查看、编辑非保护内容，并切换标签或 Markdown 预览。</a:t>
            </a:r>
          </a:p>
          <a:p xmlns:a="http://schemas.openxmlformats.org/drawingml/2006/main">
            <a:pPr algn="l">
              <a:def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Review editable content; toggle tags or Markdown.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09025-35FE-43C5-B6B8-E5A612A9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1087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90714-1871-4003-A1A5-34E57902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62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提示 / Tip：默认按 turn 操作；item 级审查属于高级模式。 / Turn-level review is the default; item-level review is advanced.</a:t>
            </a:r>
          </a:p>
        </p:txBody>
      </p:sp>
      <p:sp>
        <p:nvSpPr>
          <p:cNvPr id="18" name="footer-5">
            <a:extLst xmlns:a="http://schemas.openxmlformats.org/drawingml/2006/main">
              <a:ext uri="{FF2B5EF4-FFF2-40B4-BE49-F238E27FC236}">
                <a16:creationId xmlns:a16="http://schemas.microsoft.com/office/drawing/2014/main" id="{EE2CBB98-EC05-4C2B-A433-EA7C9ED1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CodexSessionManager · GUI Guide / GUI 操作说明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86A35F-D881-4FD1-8E89-9503AACD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524726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6A46C59-F4EE-4F2E-AD49-2F323929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rPr>
              <a:t>05 · TRIM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447F45-99C9-48E2-8FF1-5CC4A5B3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四种动作塑造派生上下文 / Four actions shape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B47C6-B840-4F3B-A38F-10467922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30F90-9448-49F3-B6DC-7BAAA0C1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95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9291E-86D7-4711-AB91-F0B4A72D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保留 / Keep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13FB4-F1E9-48DD-ABA5-CCD08170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原样带入派生任务。</a:t>
            </a:r>
          </a:p>
          <a:p xmlns:a="http://schemas.openxmlformats.org/drawingml/2006/main">
            <a:pPr algn="l">
              <a:def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Carry content forward unchanged.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3B194-1E7A-4EC3-97A3-4A878891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95450"/>
            <a:ext cx="95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5BE6A-B618-4D2E-A506-63CB42AE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954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排除 / Exclude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F27BD-5DA4-4F5E-A746-0A96188F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790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从派生上下文中移除。</a:t>
            </a:r>
          </a:p>
          <a:p xmlns:a="http://schemas.openxmlformats.org/drawingml/2006/main">
            <a:pPr algn="l">
              <a:def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Leave content out of the derived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C3BF9-25BC-4963-AD6E-4ACA307F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95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696D3-6815-428C-8F82-F826A656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摘要 / Summary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2EC45-C969-4000-B6F0-31E7C8AB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以人工摘要替代原文。</a:t>
            </a:r>
          </a:p>
          <a:p xmlns:a="http://schemas.openxmlformats.org/drawingml/2006/main">
            <a:pPr algn="l">
              <a:def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Replace the original with an edited summary.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56817-D137-40D4-8A24-2BF092A4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33800"/>
            <a:ext cx="95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922D3D-946E-44AE-AB50-AF2B9C94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33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保护 / Protect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F246F-2D29-4C98-A3FB-C258A4AD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8625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明确锁定，不允许裁剪。</a:t>
            </a:r>
          </a:p>
          <a:p xmlns:a="http://schemas.openxmlformats.org/drawingml/2006/main">
            <a:pPr algn="l">
              <a:def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Lock content against trimming.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77751-3562-40C5-B00C-99E6DA7E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11087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9525">
            <a:solidFill>
              <a:srgbClr val="DCE9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1616A-54E0-43BF-B3BA-D913E250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62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6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rPr>
              <a:t>当前请求、进行中 turn 与成组依赖会被硬保护。 / Current requests, in-progress turns, and grouped dependencies are hard-protected.</a:t>
            </a:r>
          </a:p>
        </p:txBody>
      </p:sp>
      <p:sp>
        <p:nvSpPr>
          <p:cNvPr id="18" name="footer-6">
            <a:extLst xmlns:a="http://schemas.openxmlformats.org/drawingml/2006/main">
              <a:ext uri="{FF2B5EF4-FFF2-40B4-BE49-F238E27FC236}">
                <a16:creationId xmlns:a16="http://schemas.microsoft.com/office/drawing/2014/main" id="{C6181C51-8FB5-46D6-8460-7E8F135D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CodexSessionManager · GUI Guide / GUI 操作说明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E94B24-07EE-492B-B1B6-B70D23C9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497250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F28D6F3-BBA9-4612-B6AA-2E3F0E0A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rPr>
              <a:t>06 · SCREEN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1D1DD0-4E1D-4CD4-A342-2CE9BED6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敏感筛查只在本机给出提醒 / Sensitive scan stays local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0FE4A-7374-4750-834A-D0E31FBE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15790-EE1C-4F65-BADD-69AF13BC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100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1F0"/>
          </a:solidFill>
          <a:ln xmlns:a="http://schemas.openxmlformats.org/drawingml/2006/main" w="9525">
            <a:solidFill>
              <a:srgbClr val="F7B4A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5F7B9-BDDF-48C3-A903-2837BE27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274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敏感筛查</a:t>
            </a:r>
          </a:p>
          <a:p xmlns:a="http://schemas.openxmlformats.org/drawingml/2006/main">
            <a:pPr algn="l">
              <a:defRPr sz="25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Sensitive scan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6620B-F9A6-4779-B4F1-80DF1C38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点击后筛选疑似包含敏感信息的对话，并在上下文中用红底白字标记匹配范围。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Filters likely matches and highlights matched ranges as white text on red.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C5182-8F3D-47DD-97CB-610C3FBE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907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本地确定性规则 / Deterministic local rules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CBF0F-4087-4237-8825-D16B985B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00300"/>
            <a:ext cx="60579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私钥头、云服务/API key、JWT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口令或 token 赋值、邮箱、手机号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校验位有效的身份证号与支付卡号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Private-key headers, cloud/API keys, JWTs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Password/token assignments, email, phone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Checksum-valid IDs and payment cards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DAB6E-D874-45FF-9F9D-BF9161A5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48250"/>
            <a:ext cx="605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B3284-0590-4170-8D7E-C34A0595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19700"/>
            <a:ext cx="6057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1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仍可能误报或漏报；结果用于人工复核。</a:t>
            </a:r>
          </a:p>
          <a:p xmlns:a="http://schemas.openxmlformats.org/drawingml/2006/main">
            <a:pPr algn="l">
              <a:defRPr sz="14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False positives and false negatives remain possible; review manually.</a:t>
            </a:r>
          </a:p>
        </p:txBody>
      </p:sp>
      <p:sp>
        <p:nvSpPr>
          <p:cNvPr id="11" name="footer-7">
            <a:extLst xmlns:a="http://schemas.openxmlformats.org/drawingml/2006/main">
              <a:ext uri="{FF2B5EF4-FFF2-40B4-BE49-F238E27FC236}">
                <a16:creationId xmlns:a16="http://schemas.microsoft.com/office/drawing/2014/main" id="{A58D7EA1-631A-4221-87EC-314247DD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CodexSessionManager · GUI Guide / GUI 操作说明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5F020-2628-45D0-83A6-0F88401E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9249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14014E1-E7E5-4E19-B2A9-2E9BB6B6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rPr>
              <a:t>07 · APPLY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3F5900-EEF1-45F9-B4E9-CFB68525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保存方案 ≠ 派生任务 / Save plan ≠ trimmed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15B69-2DC9-4393-9DAA-64CFA670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8EEA9-D024-42C1-A335-0DCEE467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1087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先选择动作并确认预计上下文，再决定只保存审查结果，还是创建新的精简任务。</a:t>
            </a:r>
          </a:p>
          <a:p xmlns:a="http://schemas.openxmlformats.org/drawingml/2006/main">
            <a:pPr algn="l">
              <a:defRPr sz="1575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Review actions and the estimate first; then choose whether to persist the review or create a derived task.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006B0-F374-4A22-9363-D6842D03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53340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C9BF0-7020-45B7-9815-9B1C62BD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28900"/>
            <a:ext cx="52959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9525">
            <a:solidFill>
              <a:srgbClr val="DCE9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DA344-5547-48ED-B410-5471D6C5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保存方案 / Save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CF0F7-C727-4C40-9765-F54E9622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24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只保存不可变 TrimPlan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不改变任何对话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以后执行时仍需重新复核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Persist the immutable plan only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No conversation changes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Re-check before later execution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C5B02A-DE3B-4410-BE49-6339EABE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rPr>
              <a:t>派生精简任务 / Create trimmed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C1B38-C433-4053-9D77-09F967CE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4457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76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保存并消费已审查方案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复核能力与内容指纹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新建派生任务，不自动启动模型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Save and consume the reviewed plan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Re-check capability and fingerprints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Create a derived task without a model turn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09B22-A23E-4C74-B1FC-D6BFECCC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8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804A"/>
                </a:solidFill>
                <a:latin typeface="Helvetica Neue"/>
                <a:ea typeface="Helvetica Neue"/>
                <a:cs typeface="Helvetica Neue"/>
              </a:rPr>
              <a:t>原任务始终保留 / The source task always remains</a:t>
            </a:r>
          </a:p>
        </p:txBody>
      </p:sp>
      <p:sp>
        <p:nvSpPr>
          <p:cNvPr id="12" name="footer-8">
            <a:extLst xmlns:a="http://schemas.openxmlformats.org/drawingml/2006/main">
              <a:ext uri="{FF2B5EF4-FFF2-40B4-BE49-F238E27FC236}">
                <a16:creationId xmlns:a16="http://schemas.microsoft.com/office/drawing/2014/main" id="{92E2F1BA-4BA6-4390-B4B3-84812D07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CodexSessionManager · GUI Guide / GUI 操作说明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B5079-D949-4A48-B004-E9F60860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088558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E80B6F7-7C08-442F-98EE-0AA9CD82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rPr>
              <a:t>08 · FINISH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C4789F-060B-4B2D-B373-CDE3F3B1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完成前检查四件事 / Check four things before you finish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6081C-4106-4D50-AF23-FC8D67FF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5AFC4-F4A5-41B9-A6A0-0AD0FFF2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7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FC44F-37C0-4BAD-9B02-A0EB4E43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2468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3337D-2D70-4FD1-9E8A-50AB47C4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95450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加载的是正确对话 / The correct conversation is loaded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22A3F-73D0-40B0-9A08-5D0062BB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4790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5E36E-1A53-4E5C-851E-805E432A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7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8B075-FF5E-43D0-A19F-258887DE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2468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00390-F97B-440A-886B-BE404204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硬保护项仍然完整 / Hard-protected items remain intact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52A12-8E52-4806-8C7C-E248576F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2420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E36B5-E753-45C6-AAC6-BD1656D9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7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5C3C50-F4E7-4457-AA6B-00121C11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2468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28482-2B0F-42F1-BD2C-3D080FE9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48050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预计上下文与节省量符合预期 / Context estimate and savings look right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C38BE-9DB0-48DB-BB4C-7925AF1A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1E7419-ED73-4762-8907-6C787620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891A05-7968-402B-8220-1E7EADB7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2468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6026C8-56E1-40AD-86C1-22658D94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24350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7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风险提示已解决并理解动作差异 / Risks are resolved and the two apply actions are understood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9203E8-FF11-4BF9-8685-8ED68B2B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0702BE-17B1-4D29-A6E0-3CCC0C5B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553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9525">
            <a:solidFill>
              <a:srgbClr val="DCE9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F9EA0E-8E08-4330-B0E3-CCF9B0EE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994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10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B76E4"/>
                </a:solidFill>
                <a:latin typeface="Helvetica Neue"/>
                <a:ea typeface="Helvetica Neue"/>
                <a:cs typeface="Helvetica Neue"/>
              </a:rPr>
              <a:t>需要回退？关闭窗口或返回原任务。 / Need to back out? Close the window or return to the source task.</a:t>
            </a:r>
          </a:p>
        </p:txBody>
      </p:sp>
      <p:sp>
        <p:nvSpPr>
          <p:cNvPr id="22" name="footer-9">
            <a:extLst xmlns:a="http://schemas.openxmlformats.org/drawingml/2006/main">
              <a:ext uri="{FF2B5EF4-FFF2-40B4-BE49-F238E27FC236}">
                <a16:creationId xmlns:a16="http://schemas.microsoft.com/office/drawing/2014/main" id="{37C82C8D-5713-4459-B57C-5767DB31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CodexSessionManager · GUI Guide / GUI 操作说明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7B3F9C-52D5-4D7F-90C0-F2B06536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E7089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867647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2026-08-12T10:19:39.7080000Z</dcterms:created>
  <dcterms:modified xsi:type="dcterms:W3CDTF">2026-08-12T10:19:39.7080000Z</dcterms:modified>
</coreProperties>
</file>